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You</c:v>
                </c:pt>
              </c:strCache>
            </c:strRef>
          </c:tx>
          <c:spPr>
            <a:solidFill>
              <a:srgbClr val="0B2545"/>
            </a:solidFill>
            <a:ln w="12600">
              <a:noFill/>
            </a:ln>
          </c:spPr>
          <c:invertIfNegative val="0"/>
          <c:dLbls>
            <c:numFmt formatCode="General" sourceLinked="0"/>
            <c:txPr>
              <a:bodyPr wrap="square"/>
              <a:lstStyle/>
              <a:p>
                <a:pPr>
                  <a:defRPr sz="1200" b="1" u="none" strike="noStrike">
                    <a:solidFill>
                      <a:srgbClr val="FFFFFF"/>
                    </a:solidFill>
                    <a:uFillTx/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Height (cm)</c:v>
                </c:pt>
                <c:pt idx="1">
                  <c:v>Weight (kg)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"/>
                <c:pt idx="0">
                  <c:v>178</c:v>
                </c:pt>
                <c:pt idx="1">
                  <c:v>75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Pro Athlete</c:v>
                </c:pt>
              </c:strCache>
            </c:strRef>
          </c:tx>
          <c:spPr>
            <a:solidFill>
              <a:srgbClr val="C9982B"/>
            </a:solidFill>
            <a:ln w="12600">
              <a:noFill/>
            </a:ln>
          </c:spPr>
          <c:invertIfNegative val="0"/>
          <c:dLbls>
            <c:numFmt formatCode="General" sourceLinked="0"/>
            <c:txPr>
              <a:bodyPr wrap="square"/>
              <a:lstStyle/>
              <a:p>
                <a:pPr>
                  <a:defRPr sz="1200" b="1" u="none" strike="noStrike">
                    <a:solidFill>
                      <a:srgbClr val="FFFFFF"/>
                    </a:solidFill>
                    <a:uFillTx/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eparator>;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2"/>
                <c:pt idx="0">
                  <c:v>Height (cm)</c:v>
                </c:pt>
                <c:pt idx="1">
                  <c:v>Weight (kg)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2"/>
                <c:pt idx="0">
                  <c:v>206</c:v>
                </c:pt>
                <c:pt idx="1">
                  <c:v>113</c:v>
                </c:pt>
              </c:numCache>
            </c:numRef>
          </c:val>
        </c:ser>
        <c:gapWidth val="60"/>
        <c:overlap val="0"/>
        <c:axId val="43154473"/>
        <c:axId val="91539985"/>
      </c:barChart>
      <c:catAx>
        <c:axId val="43154473"/>
        <c:scaling>
          <c:orientation val="minMax"/>
        </c:scaling>
        <c:delete val="0"/>
        <c:axPos val="b"/>
        <c:numFmt formatCode="[$-409]mm/dd/yyyy" sourceLinked="1"/>
        <c:majorTickMark val="cross"/>
        <c:minorTickMark val="none"/>
        <c:tickLblPos val="nextTo"/>
        <c:spPr>
          <a:ln w="9360">
            <a:solidFill>
              <a:srgbClr val="D8DDE6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667185"/>
                </a:solidFill>
                <a:uFillTx/>
                <a:latin typeface="Calibri"/>
              </a:defRPr>
            </a:pPr>
          </a:p>
        </c:txPr>
        <c:crossAx val="91539985"/>
        <c:crosses val="autoZero"/>
        <c:auto val="1"/>
        <c:lblAlgn val="ctr"/>
        <c:lblOffset val="100"/>
        <c:noMultiLvlLbl val="0"/>
      </c:catAx>
      <c:valAx>
        <c:axId val="91539985"/>
        <c:scaling>
          <c:orientation val="minMax"/>
        </c:scaling>
        <c:delete val="0"/>
        <c:axPos val="l"/>
        <c:majorGridlines>
          <c:spPr>
            <a:ln w="9360">
              <a:solidFill>
                <a:srgbClr val="E7EAF0"/>
              </a:solidFill>
              <a:round/>
            </a:ln>
          </c:spPr>
        </c:majorGridlines>
        <c:numFmt formatCode="General" sourceLinked="1"/>
        <c:majorTickMark val="cross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667185"/>
                </a:solidFill>
                <a:uFillTx/>
                <a:latin typeface="Calibri"/>
              </a:defRPr>
            </a:pPr>
          </a:p>
        </c:txPr>
        <c:crossAx val="4315447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200" b="0" u="none" strike="noStrike">
              <a:solidFill>
                <a:srgbClr val="667185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Naive linear projection</c:v>
                </c:pt>
              </c:strCache>
            </c:strRef>
          </c:tx>
          <c:spPr>
            <a:solidFill>
              <a:srgbClr val="B0B6C2"/>
            </a:solidFill>
            <a:ln w="31680">
              <a:solidFill>
                <a:srgbClr val="B0B6C2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3168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Day 0</c:v>
                </c:pt>
                <c:pt idx="1">
                  <c:v>Day 60</c:v>
                </c:pt>
                <c:pt idx="2">
                  <c:v>Day 120</c:v>
                </c:pt>
                <c:pt idx="3">
                  <c:v>Day 180</c:v>
                </c:pt>
                <c:pt idx="4">
                  <c:v>Day 240</c:v>
                </c:pt>
                <c:pt idx="5">
                  <c:v>Day 300</c:v>
                </c:pt>
                <c:pt idx="6">
                  <c:v>Day 365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7.5</c:v>
                </c:pt>
                <c:pt idx="1">
                  <c:v>6.9</c:v>
                </c:pt>
                <c:pt idx="2">
                  <c:v>6.3</c:v>
                </c:pt>
                <c:pt idx="3">
                  <c:v>5.7</c:v>
                </c:pt>
                <c:pt idx="4">
                  <c:v>5.1</c:v>
                </c:pt>
                <c:pt idx="5">
                  <c:v>4.5</c:v>
                </c:pt>
                <c:pt idx="6">
                  <c:v>3.85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Diminishing-returns model</c:v>
                </c:pt>
              </c:strCache>
            </c:strRef>
          </c:tx>
          <c:spPr>
            <a:solidFill>
              <a:srgbClr val="C9982B"/>
            </a:solidFill>
            <a:ln w="31680">
              <a:solidFill>
                <a:srgbClr val="C9982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3168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Day 0</c:v>
                </c:pt>
                <c:pt idx="1">
                  <c:v>Day 60</c:v>
                </c:pt>
                <c:pt idx="2">
                  <c:v>Day 120</c:v>
                </c:pt>
                <c:pt idx="3">
                  <c:v>Day 180</c:v>
                </c:pt>
                <c:pt idx="4">
                  <c:v>Day 240</c:v>
                </c:pt>
                <c:pt idx="5">
                  <c:v>Day 300</c:v>
                </c:pt>
                <c:pt idx="6">
                  <c:v>Day 365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7"/>
                <c:pt idx="0">
                  <c:v>7.5</c:v>
                </c:pt>
                <c:pt idx="1">
                  <c:v>7.2</c:v>
                </c:pt>
                <c:pt idx="2">
                  <c:v>7.1</c:v>
                </c:pt>
                <c:pt idx="3">
                  <c:v>7.05</c:v>
                </c:pt>
                <c:pt idx="4">
                  <c:v>7.02</c:v>
                </c:pt>
                <c:pt idx="5">
                  <c:v>7</c:v>
                </c:pt>
                <c:pt idx="6">
                  <c:v>6.98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30478097"/>
        <c:axId val="96440291"/>
      </c:lineChart>
      <c:catAx>
        <c:axId val="30478097"/>
        <c:scaling>
          <c:orientation val="minMax"/>
        </c:scaling>
        <c:delete val="0"/>
        <c:axPos val="b"/>
        <c:numFmt formatCode="[$-409]mm/dd/yyyy" sourceLinked="1"/>
        <c:majorTickMark val="cross"/>
        <c:minorTickMark val="none"/>
        <c:tickLblPos val="nextTo"/>
        <c:spPr>
          <a:ln w="9360">
            <a:solidFill>
              <a:srgbClr val="D8DDE6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667185"/>
                </a:solidFill>
                <a:uFillTx/>
                <a:latin typeface="Calibri"/>
              </a:defRPr>
            </a:pPr>
          </a:p>
        </c:txPr>
        <c:crossAx val="96440291"/>
        <c:crosses val="autoZero"/>
        <c:auto val="1"/>
        <c:lblAlgn val="ctr"/>
        <c:lblOffset val="100"/>
        <c:noMultiLvlLbl val="0"/>
      </c:catAx>
      <c:valAx>
        <c:axId val="96440291"/>
        <c:scaling>
          <c:orientation val="minMax"/>
        </c:scaling>
        <c:delete val="0"/>
        <c:axPos val="l"/>
        <c:majorGridlines>
          <c:spPr>
            <a:ln w="9360">
              <a:solidFill>
                <a:srgbClr val="E7EAF0"/>
              </a:solidFill>
              <a:round/>
            </a:ln>
          </c:spPr>
        </c:majorGridlines>
        <c:numFmt formatCode="General" sourceLinked="1"/>
        <c:majorTickMark val="cross"/>
        <c:minorTickMark val="none"/>
        <c:tickLblPos val="nextTo"/>
        <c:spPr>
          <a:ln w="936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667185"/>
                </a:solidFill>
                <a:uFillTx/>
                <a:latin typeface="Calibri"/>
              </a:defRPr>
            </a:pPr>
          </a:p>
        </c:txPr>
        <c:crossAx val="3047809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00" b="0" u="none" strike="noStrike">
              <a:solidFill>
                <a:srgbClr val="667185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DD92F9-81D6-4E2C-BDE6-838D01DEB2B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7EDF4B-A42B-4ABD-BCA5-B2B401F4A5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57AE8C-345B-498C-8578-4A86B212CE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4D6527-5A9B-4C0F-B142-53620400D0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8368D3-1DA6-4A1A-8D1B-140BBFB5B07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021F7A-71B0-4532-A6C0-E9BD717A4E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C0B088-5F1B-4235-A8BA-FD6221358E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8C4238-FD5F-48EC-B343-6524A6B9B0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B2B982-983B-4A15-9DA0-A9483E3EE1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1E1A29-B135-44C5-AC5B-50D036B989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38B867-B808-42F3-9F4E-EEC4B2440E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 1"/>
          <p:cNvSpPr/>
          <p:nvPr/>
        </p:nvSpPr>
        <p:spPr>
          <a:xfrm>
            <a:off x="5413320" y="502920"/>
            <a:ext cx="1371240" cy="1371240"/>
          </a:xfrm>
          <a:prstGeom prst="ellipse">
            <a:avLst/>
          </a:prstGeom>
          <a:solidFill>
            <a:srgbClr val="163A6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5413320" y="502920"/>
            <a:ext cx="1371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3000" b="1" u="none" strike="noStrike">
                <a:solidFill>
                  <a:srgbClr val="F2C14E"/>
                </a:solidFill>
                <a:effectLst/>
                <a:uFillTx/>
                <a:latin typeface="Cambria"/>
              </a:rPr>
              <a:t>SS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2331720"/>
            <a:ext cx="10359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STEVENS AI SUMMER PROGRAM  ·  2026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57200" y="2697480"/>
            <a:ext cx="11274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5200" b="1" u="none" strike="noStrike">
                <a:solidFill>
                  <a:srgbClr val="F2C14E"/>
                </a:solidFill>
                <a:effectLst/>
                <a:uFillTx/>
                <a:latin typeface="Cambria"/>
              </a:rPr>
              <a:t>Sports Stats Search</a:t>
            </a:r>
            <a:endParaRPr lang="en-US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1371600" y="3794760"/>
            <a:ext cx="944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Search any athlete. Log your own stats. Watch the trend.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371600" y="5989320"/>
            <a:ext cx="9445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i="1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A desktop app built with Flask, SQLite, pywebview, and TheSportsDB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WHAT IT DOES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548640" y="6584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Two Apps in One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3"/>
          <p:cNvSpPr/>
          <p:nvPr/>
        </p:nvSpPr>
        <p:spPr>
          <a:xfrm>
            <a:off x="548640" y="1783080"/>
            <a:ext cx="5257440" cy="416016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>
            <a:outerShdw blurRad="90000" dir="5400000" dist="3816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Oval 4"/>
          <p:cNvSpPr/>
          <p:nvPr/>
        </p:nvSpPr>
        <p:spPr>
          <a:xfrm>
            <a:off x="914400" y="2148840"/>
            <a:ext cx="776880" cy="776880"/>
          </a:xfrm>
          <a:prstGeom prst="ellipse">
            <a:avLst/>
          </a:prstGeom>
          <a:solidFill>
            <a:srgbClr val="0B2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914400" y="214884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1874520" y="22219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Explore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914400" y="3200400"/>
            <a:ext cx="452592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10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4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Search any team or player across soccer, basketball, football, hockey, baseball, golf, tennis, and more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10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4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Team pages: overview, roster, recent results, upcoming fixtures, and live league standings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10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4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Player pages: bio, height/weight, age, nationality, and current team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10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4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Powered by TheSportsDB's free public API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8"/>
          <p:cNvSpPr/>
          <p:nvPr/>
        </p:nvSpPr>
        <p:spPr>
          <a:xfrm>
            <a:off x="6172200" y="1783080"/>
            <a:ext cx="5257440" cy="416016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>
            <a:outerShdw blurRad="90000" dir="5400000" dist="3816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Oval 9"/>
          <p:cNvSpPr/>
          <p:nvPr/>
        </p:nvSpPr>
        <p:spPr>
          <a:xfrm>
            <a:off x="6537960" y="2148840"/>
            <a:ext cx="776880" cy="776880"/>
          </a:xfrm>
          <a:prstGeom prst="ellipse">
            <a:avLst/>
          </a:prstGeom>
          <a:solidFill>
            <a:srgbClr val="C99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6537960" y="214884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7498080" y="22219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2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Track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6537960" y="3200400"/>
            <a:ext cx="4525920" cy="25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10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4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Create a free account, stored locally on your machine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10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4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Log sport-specific personal metrics over time (times, jumps, lifts, and more)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10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4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Compare your stats to any pro athlete you search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lang="en-US" sz="110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4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Rank on a leaderboard and see trend projections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Sports Stats Search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10972800" y="6473880"/>
            <a:ext cx="66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ARCHITECTURE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548640" y="6584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How It Works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3"/>
          <p:cNvSpPr/>
          <p:nvPr/>
        </p:nvSpPr>
        <p:spPr>
          <a:xfrm>
            <a:off x="3813120" y="1691640"/>
            <a:ext cx="4571640" cy="639720"/>
          </a:xfrm>
          <a:prstGeom prst="roundRect">
            <a:avLst>
              <a:gd name="adj" fmla="val 6000"/>
            </a:avLst>
          </a:prstGeom>
          <a:solidFill>
            <a:srgbClr val="163A63"/>
          </a:solidFill>
          <a:ln>
            <a:noFill/>
          </a:ln>
          <a:effectLst>
            <a:outerShdw blurRad="90000" dir="5400000" dist="3816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4041720" y="1691640"/>
            <a:ext cx="4114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Native Desktop Window  (pywebview)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3813120" y="23407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6"/>
          <p:cNvSpPr/>
          <p:nvPr/>
        </p:nvSpPr>
        <p:spPr>
          <a:xfrm>
            <a:off x="3813120" y="2697480"/>
            <a:ext cx="4571640" cy="63972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>
            <a:outerShdw blurRad="90000" dir="5400000" dist="3816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7"/>
          <p:cNvSpPr/>
          <p:nvPr/>
        </p:nvSpPr>
        <p:spPr>
          <a:xfrm>
            <a:off x="4041720" y="2697480"/>
            <a:ext cx="4114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Flask Backend  (app.py)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1691640" y="336492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9"/>
          <p:cNvSpPr/>
          <p:nvPr/>
        </p:nvSpPr>
        <p:spPr>
          <a:xfrm>
            <a:off x="7406640" y="336492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2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↓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10"/>
          <p:cNvSpPr/>
          <p:nvPr/>
        </p:nvSpPr>
        <p:spPr>
          <a:xfrm>
            <a:off x="548640" y="3886200"/>
            <a:ext cx="5028840" cy="1051200"/>
          </a:xfrm>
          <a:prstGeom prst="roundRect">
            <a:avLst>
              <a:gd name="adj" fmla="val 6000"/>
            </a:avLst>
          </a:prstGeom>
          <a:solidFill>
            <a:srgbClr val="163A63"/>
          </a:solidFill>
          <a:ln>
            <a:noFill/>
          </a:ln>
          <a:effectLst>
            <a:outerShdw blurRad="90000" dir="5400000" dist="3816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1"/>
          <p:cNvSpPr/>
          <p:nvPr/>
        </p:nvSpPr>
        <p:spPr>
          <a:xfrm>
            <a:off x="777240" y="40050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TheSportsDB API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2"/>
          <p:cNvSpPr/>
          <p:nvPr/>
        </p:nvSpPr>
        <p:spPr>
          <a:xfrm>
            <a:off x="777240" y="448056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cached 5 min in-memory · rate-limited to 30 req/min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3"/>
          <p:cNvSpPr/>
          <p:nvPr/>
        </p:nvSpPr>
        <p:spPr>
          <a:xfrm>
            <a:off x="6611040" y="3886200"/>
            <a:ext cx="5028840" cy="1051200"/>
          </a:xfrm>
          <a:prstGeom prst="roundRect">
            <a:avLst>
              <a:gd name="adj" fmla="val 6000"/>
            </a:avLst>
          </a:prstGeom>
          <a:solidFill>
            <a:srgbClr val="163A63"/>
          </a:solidFill>
          <a:ln>
            <a:noFill/>
          </a:ln>
          <a:effectLst>
            <a:outerShdw blurRad="90000" dir="5400000" dist="3816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4"/>
          <p:cNvSpPr/>
          <p:nvPr/>
        </p:nvSpPr>
        <p:spPr>
          <a:xfrm>
            <a:off x="6839640" y="40050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Local SQLite Database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5"/>
          <p:cNvSpPr/>
          <p:nvPr/>
        </p:nvSpPr>
        <p:spPr>
          <a:xfrm>
            <a:off x="6839640" y="448056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150" b="0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user accounts + personal stat logs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6"/>
          <p:cNvSpPr/>
          <p:nvPr/>
        </p:nvSpPr>
        <p:spPr>
          <a:xfrm>
            <a:off x="1371600" y="5349240"/>
            <a:ext cx="9445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300" b="0" i="1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One process, one window — Flask runs on a background thread; pywebview just displays it.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7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Sports Stats Search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8"/>
          <p:cNvSpPr/>
          <p:nvPr/>
        </p:nvSpPr>
        <p:spPr>
          <a:xfrm>
            <a:off x="10972800" y="6473880"/>
            <a:ext cx="66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FEATURE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548640" y="6584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Explore Teams &amp; Players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Oval 3"/>
          <p:cNvSpPr/>
          <p:nvPr/>
        </p:nvSpPr>
        <p:spPr>
          <a:xfrm>
            <a:off x="548640" y="1874520"/>
            <a:ext cx="731160" cy="731160"/>
          </a:xfrm>
          <a:prstGeom prst="ellipse">
            <a:avLst/>
          </a:prstGeom>
          <a:solidFill>
            <a:srgbClr val="0B2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548640" y="187452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1600200" y="185616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Search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1600200" y="2331720"/>
            <a:ext cx="9600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4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Type any team or player name — results merge team and player matches from TheSportsDB, sport-agnostic.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Oval 7"/>
          <p:cNvSpPr/>
          <p:nvPr/>
        </p:nvSpPr>
        <p:spPr>
          <a:xfrm>
            <a:off x="548640" y="3291840"/>
            <a:ext cx="731160" cy="731160"/>
          </a:xfrm>
          <a:prstGeom prst="ellipse">
            <a:avLst/>
          </a:prstGeom>
          <a:solidFill>
            <a:srgbClr val="0B2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548640" y="329184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9"/>
          <p:cNvSpPr/>
          <p:nvPr/>
        </p:nvSpPr>
        <p:spPr>
          <a:xfrm>
            <a:off x="1600200" y="327348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Team Pages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0"/>
          <p:cNvSpPr/>
          <p:nvPr/>
        </p:nvSpPr>
        <p:spPr>
          <a:xfrm>
            <a:off x="1600200" y="3749040"/>
            <a:ext cx="9600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4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Overview, full roster, recent results, upcoming fixtures, and live league standings, all in one view.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Oval 11"/>
          <p:cNvSpPr/>
          <p:nvPr/>
        </p:nvSpPr>
        <p:spPr>
          <a:xfrm>
            <a:off x="548640" y="4709160"/>
            <a:ext cx="731160" cy="731160"/>
          </a:xfrm>
          <a:prstGeom prst="ellipse">
            <a:avLst/>
          </a:prstGeom>
          <a:solidFill>
            <a:srgbClr val="0B2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2"/>
          <p:cNvSpPr/>
          <p:nvPr/>
        </p:nvSpPr>
        <p:spPr>
          <a:xfrm>
            <a:off x="548640" y="47091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3"/>
          <p:cNvSpPr/>
          <p:nvPr/>
        </p:nvSpPr>
        <p:spPr>
          <a:xfrm>
            <a:off x="1600200" y="469080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9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Player Pages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14"/>
          <p:cNvSpPr/>
          <p:nvPr/>
        </p:nvSpPr>
        <p:spPr>
          <a:xfrm>
            <a:off x="1600200" y="5166360"/>
            <a:ext cx="9600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4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Bio, auto-parsed height/weight, calculated age, nationality, current team, and that team's schedule.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5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Sports Stats Search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6"/>
          <p:cNvSpPr/>
          <p:nvPr/>
        </p:nvSpPr>
        <p:spPr>
          <a:xfrm>
            <a:off x="10972800" y="6473880"/>
            <a:ext cx="66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FEATURE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548640" y="6584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Your Stats &amp; Compare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548640" y="178308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Log what matters to your sport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548640" y="2331720"/>
            <a:ext cx="51202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lang="en-US" sz="120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5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Mile time · 40-yard dash · vertical jump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lang="en-US" sz="120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5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Bench press (1RM) · batting average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lang="en-US" sz="120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5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Driving distance · bio (height, weight, age)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lang="en-US" sz="120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50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...and more — a full metric catalog per sport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5"/>
          <p:cNvSpPr/>
          <p:nvPr/>
        </p:nvSpPr>
        <p:spPr>
          <a:xfrm>
            <a:off x="548640" y="5212080"/>
            <a:ext cx="5120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5000"/>
              </a:lnSpc>
              <a:spcAft>
                <a:spcPts val="601"/>
              </a:spcAft>
            </a:pPr>
            <a:r>
              <a:rPr lang="en-US" sz="1250" b="0" i="1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Your saved Bio stats (height, weight, age) prefill the Compare tool and power the age-adjusted Projections model.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5989320" y="1783080"/>
            <a:ext cx="5623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See how you stack up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1" name="Chart 7"/>
          <p:cNvGraphicFramePr/>
          <p:nvPr/>
        </p:nvGraphicFramePr>
        <p:xfrm>
          <a:off x="5989320" y="2286000"/>
          <a:ext cx="5623200" cy="3748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2" name="TextBox 8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Sports Stats Search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9"/>
          <p:cNvSpPr/>
          <p:nvPr/>
        </p:nvSpPr>
        <p:spPr>
          <a:xfrm>
            <a:off x="10972800" y="6473880"/>
            <a:ext cx="66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FEATURE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548640" y="6584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Leaderboard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548640" y="182880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Ranking logic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548640" y="2377440"/>
            <a:ext cx="512028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lang="en-US" sz="115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4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Pick any sport + metric that at least one user has logged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lang="en-US" sz="115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45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Lower is better: </a:t>
            </a:r>
            <a:r>
              <a:rPr lang="en-US" sz="14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times (mile run, 40-yd dash) rank ascending — fastest wins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lang="en-US" sz="115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450" b="1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Higher is better: </a:t>
            </a:r>
            <a:r>
              <a:rPr lang="en-US" sz="14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power/distance metrics (bench, driving distance) rank descending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400"/>
              </a:spcAft>
            </a:pPr>
            <a:r>
              <a:rPr lang="en-US" sz="1150" b="0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●   </a:t>
            </a:r>
            <a:r>
              <a:rPr lang="en-US" sz="14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Ranked by each user's most recently logged value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6172200" y="1828800"/>
            <a:ext cx="5440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1-Mile Run — lower is better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9" name="Table 6"/>
          <p:cNvGraphicFramePr/>
          <p:nvPr/>
        </p:nvGraphicFramePr>
        <p:xfrm>
          <a:off x="6172200" y="2331720"/>
          <a:ext cx="5440320" cy="3108600"/>
        </p:xfrm>
        <a:graphic>
          <a:graphicData uri="http://schemas.openxmlformats.org/drawingml/2006/table">
            <a:tbl>
              <a:tblPr/>
              <a:tblGrid>
                <a:gridCol w="1188720"/>
                <a:gridCol w="2606040"/>
                <a:gridCol w="1645920"/>
              </a:tblGrid>
              <a:tr h="621720">
                <a:tc>
                  <a:txBody>
                    <a:bodyPr lIns="10944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Rank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lIns="10944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User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lIns="10944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Time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2545"/>
                    </a:solidFill>
                  </a:tcPr>
                </a:tc>
              </a:tr>
              <a:tr h="621720">
                <a:tc>
                  <a:txBody>
                    <a:bodyPr lIns="10944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C9982B"/>
                          </a:solidFill>
                          <a:effectLst/>
                          <a:uFillTx/>
                          <a:latin typeface="Calibri"/>
                        </a:rPr>
                        <a:t>1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jchen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5:58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lIns="10944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C9982B"/>
                          </a:solidFill>
                          <a:effectLst/>
                          <a:uFillTx/>
                          <a:latin typeface="Calibri"/>
                        </a:rPr>
                        <a:t>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0944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mrivera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0944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6:14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621720">
                <a:tc>
                  <a:txBody>
                    <a:bodyPr lIns="10944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C9982B"/>
                          </a:solidFill>
                          <a:effectLst/>
                          <a:uFillTx/>
                          <a:latin typeface="Calibri"/>
                        </a:rPr>
                        <a:t>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asmith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6:22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20">
                <a:tc>
                  <a:txBody>
                    <a:bodyPr lIns="10944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C9982B"/>
                          </a:solidFill>
                          <a:effectLst/>
                          <a:uFillTx/>
                          <a:latin typeface="Calibri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09440"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dpatel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lIns="109440" tIns="36360" bIns="36360"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141B2E"/>
                          </a:solidFill>
                          <a:effectLst/>
                          <a:uFillTx/>
                          <a:latin typeface="Calibri"/>
                        </a:rPr>
                        <a:t>6:40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30" name="TextBox 7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Sports Stats Search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10972800" y="6473880"/>
            <a:ext cx="66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THE INTERESTING PART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548640" y="6584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Smarter Projections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Oval 3"/>
          <p:cNvSpPr/>
          <p:nvPr/>
        </p:nvSpPr>
        <p:spPr>
          <a:xfrm>
            <a:off x="548640" y="1828800"/>
            <a:ext cx="502560" cy="502560"/>
          </a:xfrm>
          <a:prstGeom prst="ellipse">
            <a:avLst/>
          </a:prstGeom>
          <a:solidFill>
            <a:srgbClr val="C99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548640" y="18288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5"/>
          <p:cNvSpPr/>
          <p:nvPr/>
        </p:nvSpPr>
        <p:spPr>
          <a:xfrm>
            <a:off x="1207080" y="179208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</a:rPr>
              <a:t>Rest-day-weighted regression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1207080" y="2194560"/>
            <a:ext cx="347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Entries logged well-rested count up to 2× more than fatigued ones — less noise in the trend.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Oval 7"/>
          <p:cNvSpPr/>
          <p:nvPr/>
        </p:nvSpPr>
        <p:spPr>
          <a:xfrm>
            <a:off x="548640" y="3246120"/>
            <a:ext cx="502560" cy="502560"/>
          </a:xfrm>
          <a:prstGeom prst="ellipse">
            <a:avLst/>
          </a:prstGeom>
          <a:solidFill>
            <a:srgbClr val="C99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8"/>
          <p:cNvSpPr/>
          <p:nvPr/>
        </p:nvSpPr>
        <p:spPr>
          <a:xfrm>
            <a:off x="548640" y="32461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1207080" y="320940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</a:rPr>
              <a:t>Age adjustment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1207080" y="3611880"/>
            <a:ext cx="347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A heuristic factor scales the trend faster for younger users, slower for older ones.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Oval 11"/>
          <p:cNvSpPr/>
          <p:nvPr/>
        </p:nvSpPr>
        <p:spPr>
          <a:xfrm>
            <a:off x="548640" y="4663440"/>
            <a:ext cx="502560" cy="502560"/>
          </a:xfrm>
          <a:prstGeom prst="ellipse">
            <a:avLst/>
          </a:prstGeom>
          <a:solidFill>
            <a:srgbClr val="C99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12"/>
          <p:cNvSpPr/>
          <p:nvPr/>
        </p:nvSpPr>
        <p:spPr>
          <a:xfrm>
            <a:off x="548640" y="46634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3"/>
          <p:cNvSpPr/>
          <p:nvPr/>
        </p:nvSpPr>
        <p:spPr>
          <a:xfrm>
            <a:off x="1207080" y="462672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50" b="1" u="none" strike="noStrike">
                <a:solidFill>
                  <a:srgbClr val="0B2545"/>
                </a:solidFill>
                <a:effectLst/>
                <a:uFillTx/>
                <a:latin typeface="Calibri"/>
              </a:rPr>
              <a:t>Diminishing-returns curve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4"/>
          <p:cNvSpPr/>
          <p:nvPr/>
        </p:nvSpPr>
        <p:spPr>
          <a:xfrm>
            <a:off x="1207080" y="5029200"/>
            <a:ext cx="3474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The projection saturates toward a plateau instead of extending in a straight line forever.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6" name="Chart 15"/>
          <p:cNvGraphicFramePr/>
          <p:nvPr/>
        </p:nvGraphicFramePr>
        <p:xfrm>
          <a:off x="5074920" y="1737360"/>
          <a:ext cx="6583320" cy="3428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7" name="TextBox 16"/>
          <p:cNvSpPr/>
          <p:nvPr/>
        </p:nvSpPr>
        <p:spPr>
          <a:xfrm>
            <a:off x="5074920" y="5257800"/>
            <a:ext cx="6583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  <a:spcAft>
                <a:spcPts val="601"/>
              </a:spcAft>
            </a:pPr>
            <a:r>
              <a:rPr lang="en-US" sz="1250" b="0" i="1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Linear extrapolation predicts an impossible 3:51 mile after a year. The model levels off near 6:59.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7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Sports Stats Search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18"/>
          <p:cNvSpPr/>
          <p:nvPr/>
        </p:nvSpPr>
        <p:spPr>
          <a:xfrm>
            <a:off x="10972800" y="6473880"/>
            <a:ext cx="66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C9982B"/>
                </a:solidFill>
                <a:effectLst/>
                <a:uFillTx/>
                <a:latin typeface="Calibri"/>
              </a:rPr>
              <a:t>TECH STACK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548640" y="6584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Under the Hood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3"/>
          <p:cNvSpPr/>
          <p:nvPr/>
        </p:nvSpPr>
        <p:spPr>
          <a:xfrm>
            <a:off x="548640" y="1828800"/>
            <a:ext cx="3611520" cy="1919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>
            <a:outerShdw blurRad="90000" dir="5400000" dist="3816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Oval 4"/>
          <p:cNvSpPr/>
          <p:nvPr/>
        </p:nvSpPr>
        <p:spPr>
          <a:xfrm>
            <a:off x="822960" y="2103120"/>
            <a:ext cx="685440" cy="685440"/>
          </a:xfrm>
          <a:prstGeom prst="ellipse">
            <a:avLst/>
          </a:prstGeom>
          <a:solidFill>
            <a:srgbClr val="0B2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5"/>
          <p:cNvSpPr/>
          <p:nvPr/>
        </p:nvSpPr>
        <p:spPr>
          <a:xfrm>
            <a:off x="822960" y="210312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PY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6"/>
          <p:cNvSpPr/>
          <p:nvPr/>
        </p:nvSpPr>
        <p:spPr>
          <a:xfrm>
            <a:off x="1691640" y="212148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B2545"/>
                </a:solidFill>
                <a:effectLst/>
                <a:uFillTx/>
                <a:latin typeface="Calibri"/>
              </a:rPr>
              <a:t>Python + Flask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7"/>
          <p:cNvSpPr/>
          <p:nvPr/>
        </p:nvSpPr>
        <p:spPr>
          <a:xfrm>
            <a:off x="822960" y="292608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Backend + REST API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8"/>
          <p:cNvSpPr/>
          <p:nvPr/>
        </p:nvSpPr>
        <p:spPr>
          <a:xfrm>
            <a:off x="4343400" y="1828800"/>
            <a:ext cx="3611520" cy="1919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>
            <a:outerShdw blurRad="90000" dir="5400000" dist="3816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Oval 9"/>
          <p:cNvSpPr/>
          <p:nvPr/>
        </p:nvSpPr>
        <p:spPr>
          <a:xfrm>
            <a:off x="4617720" y="2103120"/>
            <a:ext cx="685440" cy="685440"/>
          </a:xfrm>
          <a:prstGeom prst="ellipse">
            <a:avLst/>
          </a:prstGeom>
          <a:solidFill>
            <a:srgbClr val="C99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0"/>
          <p:cNvSpPr/>
          <p:nvPr/>
        </p:nvSpPr>
        <p:spPr>
          <a:xfrm>
            <a:off x="4617720" y="210312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DB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1"/>
          <p:cNvSpPr/>
          <p:nvPr/>
        </p:nvSpPr>
        <p:spPr>
          <a:xfrm>
            <a:off x="5486400" y="212148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B2545"/>
                </a:solidFill>
                <a:effectLst/>
                <a:uFillTx/>
                <a:latin typeface="Calibri"/>
              </a:rPr>
              <a:t>SQLite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2"/>
          <p:cNvSpPr/>
          <p:nvPr/>
        </p:nvSpPr>
        <p:spPr>
          <a:xfrm>
            <a:off x="4617720" y="292608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Local accounts &amp; stat history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13"/>
          <p:cNvSpPr/>
          <p:nvPr/>
        </p:nvSpPr>
        <p:spPr>
          <a:xfrm>
            <a:off x="8138160" y="1828800"/>
            <a:ext cx="3611520" cy="1919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>
            <a:outerShdw blurRad="90000" dir="5400000" dist="3816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Oval 14"/>
          <p:cNvSpPr/>
          <p:nvPr/>
        </p:nvSpPr>
        <p:spPr>
          <a:xfrm>
            <a:off x="8412480" y="2103120"/>
            <a:ext cx="685440" cy="685440"/>
          </a:xfrm>
          <a:prstGeom prst="ellipse">
            <a:avLst/>
          </a:prstGeom>
          <a:solidFill>
            <a:srgbClr val="0B2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5"/>
          <p:cNvSpPr/>
          <p:nvPr/>
        </p:nvSpPr>
        <p:spPr>
          <a:xfrm>
            <a:off x="8412480" y="210312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UI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9281160" y="212148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B2545"/>
                </a:solidFill>
                <a:effectLst/>
                <a:uFillTx/>
                <a:latin typeface="Calibri"/>
              </a:rPr>
              <a:t>pywebview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7"/>
          <p:cNvSpPr/>
          <p:nvPr/>
        </p:nvSpPr>
        <p:spPr>
          <a:xfrm>
            <a:off x="8412480" y="292608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Native desktop window, no browser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18"/>
          <p:cNvSpPr/>
          <p:nvPr/>
        </p:nvSpPr>
        <p:spPr>
          <a:xfrm>
            <a:off x="548640" y="3931920"/>
            <a:ext cx="3611520" cy="1919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>
            <a:outerShdw blurRad="90000" dir="5400000" dist="3816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Oval 19"/>
          <p:cNvSpPr/>
          <p:nvPr/>
        </p:nvSpPr>
        <p:spPr>
          <a:xfrm>
            <a:off x="822960" y="4206240"/>
            <a:ext cx="685440" cy="685440"/>
          </a:xfrm>
          <a:prstGeom prst="ellipse">
            <a:avLst/>
          </a:prstGeom>
          <a:solidFill>
            <a:srgbClr val="C99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822960" y="420624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JS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1"/>
          <p:cNvSpPr/>
          <p:nvPr/>
        </p:nvSpPr>
        <p:spPr>
          <a:xfrm>
            <a:off x="1691640" y="422460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B2545"/>
                </a:solidFill>
                <a:effectLst/>
                <a:uFillTx/>
                <a:latin typeface="Calibri"/>
              </a:rPr>
              <a:t>HTML / CSS / JS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22"/>
          <p:cNvSpPr/>
          <p:nvPr/>
        </p:nvSpPr>
        <p:spPr>
          <a:xfrm>
            <a:off x="822960" y="502920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Frontend, no framework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23"/>
          <p:cNvSpPr/>
          <p:nvPr/>
        </p:nvSpPr>
        <p:spPr>
          <a:xfrm>
            <a:off x="4343400" y="3931920"/>
            <a:ext cx="3611520" cy="1919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>
            <a:outerShdw blurRad="90000" dir="5400000" dist="3816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Oval 24"/>
          <p:cNvSpPr/>
          <p:nvPr/>
        </p:nvSpPr>
        <p:spPr>
          <a:xfrm>
            <a:off x="4617720" y="4206240"/>
            <a:ext cx="685440" cy="685440"/>
          </a:xfrm>
          <a:prstGeom prst="ellipse">
            <a:avLst/>
          </a:prstGeom>
          <a:solidFill>
            <a:srgbClr val="0B254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25"/>
          <p:cNvSpPr/>
          <p:nvPr/>
        </p:nvSpPr>
        <p:spPr>
          <a:xfrm>
            <a:off x="4617720" y="420624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6"/>
          <p:cNvSpPr/>
          <p:nvPr/>
        </p:nvSpPr>
        <p:spPr>
          <a:xfrm>
            <a:off x="5486400" y="422460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B2545"/>
                </a:solidFill>
                <a:effectLst/>
                <a:uFillTx/>
                <a:latin typeface="Calibri"/>
              </a:rPr>
              <a:t>TheSportsDB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7"/>
          <p:cNvSpPr/>
          <p:nvPr/>
        </p:nvSpPr>
        <p:spPr>
          <a:xfrm>
            <a:off x="4617720" y="502920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Free public sports data API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28"/>
          <p:cNvSpPr/>
          <p:nvPr/>
        </p:nvSpPr>
        <p:spPr>
          <a:xfrm>
            <a:off x="8138160" y="3931920"/>
            <a:ext cx="3611520" cy="1919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>
            <a:outerShdw blurRad="90000" dir="5400000" dist="38160" rotWithShape="0">
              <a:srgbClr val="0B2545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Oval 29"/>
          <p:cNvSpPr/>
          <p:nvPr/>
        </p:nvSpPr>
        <p:spPr>
          <a:xfrm>
            <a:off x="8412480" y="4206240"/>
            <a:ext cx="685440" cy="685440"/>
          </a:xfrm>
          <a:prstGeom prst="ellipse">
            <a:avLst/>
          </a:prstGeom>
          <a:solidFill>
            <a:srgbClr val="C998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30"/>
          <p:cNvSpPr/>
          <p:nvPr/>
        </p:nvSpPr>
        <p:spPr>
          <a:xfrm>
            <a:off x="8412480" y="4206240"/>
            <a:ext cx="685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EXE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1"/>
          <p:cNvSpPr/>
          <p:nvPr/>
        </p:nvSpPr>
        <p:spPr>
          <a:xfrm>
            <a:off x="9281160" y="422460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500" b="1" u="none" strike="noStrike">
                <a:solidFill>
                  <a:srgbClr val="0B2545"/>
                </a:solidFill>
                <a:effectLst/>
                <a:uFillTx/>
                <a:latin typeface="Calibri"/>
              </a:rPr>
              <a:t>PyInstaller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32"/>
          <p:cNvSpPr/>
          <p:nvPr/>
        </p:nvSpPr>
        <p:spPr>
          <a:xfrm>
            <a:off x="8412480" y="502920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1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141B2E"/>
                </a:solidFill>
                <a:effectLst/>
                <a:uFillTx/>
                <a:latin typeface="Calibri"/>
              </a:rPr>
              <a:t>Bundles everything into one .exe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33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Sports Stats Search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34"/>
          <p:cNvSpPr/>
          <p:nvPr/>
        </p:nvSpPr>
        <p:spPr>
          <a:xfrm>
            <a:off x="10972800" y="6473880"/>
            <a:ext cx="66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667185"/>
                </a:solidFill>
                <a:effectLst/>
                <a:uFillTx/>
                <a:latin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Box 1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F2C14E"/>
                </a:solidFill>
                <a:effectLst/>
                <a:uFillTx/>
                <a:latin typeface="Calibri"/>
              </a:rPr>
              <a:t>WHY WE BUILT IT THIS WAY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2"/>
          <p:cNvSpPr/>
          <p:nvPr/>
        </p:nvSpPr>
        <p:spPr>
          <a:xfrm>
            <a:off x="548640" y="6584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Design Decisions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Oval 3"/>
          <p:cNvSpPr/>
          <p:nvPr/>
        </p:nvSpPr>
        <p:spPr>
          <a:xfrm>
            <a:off x="548640" y="1965960"/>
            <a:ext cx="502560" cy="502560"/>
          </a:xfrm>
          <a:prstGeom prst="ellipse">
            <a:avLst/>
          </a:prstGeom>
          <a:solidFill>
            <a:srgbClr val="F2C1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4"/>
          <p:cNvSpPr/>
          <p:nvPr/>
        </p:nvSpPr>
        <p:spPr>
          <a:xfrm>
            <a:off x="548640" y="19659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5"/>
          <p:cNvSpPr/>
          <p:nvPr/>
        </p:nvSpPr>
        <p:spPr>
          <a:xfrm>
            <a:off x="1234440" y="19202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 box-score data on the free API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6"/>
          <p:cNvSpPr/>
          <p:nvPr/>
        </p:nvSpPr>
        <p:spPr>
          <a:xfrm>
            <a:off x="1234440" y="23500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i="1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→  users self-log performance metrics instead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Oval 7"/>
          <p:cNvSpPr/>
          <p:nvPr/>
        </p:nvSpPr>
        <p:spPr>
          <a:xfrm>
            <a:off x="548640" y="2971800"/>
            <a:ext cx="502560" cy="502560"/>
          </a:xfrm>
          <a:prstGeom prst="ellipse">
            <a:avLst/>
          </a:prstGeom>
          <a:solidFill>
            <a:srgbClr val="F2C1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8"/>
          <p:cNvSpPr/>
          <p:nvPr/>
        </p:nvSpPr>
        <p:spPr>
          <a:xfrm>
            <a:off x="548640" y="29718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9"/>
          <p:cNvSpPr/>
          <p:nvPr/>
        </p:nvSpPr>
        <p:spPr>
          <a:xfrm>
            <a:off x="1234440" y="29260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Only 30 requests/min allowed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0"/>
          <p:cNvSpPr/>
          <p:nvPr/>
        </p:nvSpPr>
        <p:spPr>
          <a:xfrm>
            <a:off x="1234440" y="3355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i="1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→  responses are cached in-memory for 5 minutes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Oval 11"/>
          <p:cNvSpPr/>
          <p:nvPr/>
        </p:nvSpPr>
        <p:spPr>
          <a:xfrm>
            <a:off x="548640" y="3977640"/>
            <a:ext cx="502560" cy="502560"/>
          </a:xfrm>
          <a:prstGeom prst="ellipse">
            <a:avLst/>
          </a:prstGeom>
          <a:solidFill>
            <a:srgbClr val="F2C1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12"/>
          <p:cNvSpPr/>
          <p:nvPr/>
        </p:nvSpPr>
        <p:spPr>
          <a:xfrm>
            <a:off x="548640" y="3977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13"/>
          <p:cNvSpPr/>
          <p:nvPr/>
        </p:nvSpPr>
        <p:spPr>
          <a:xfrm>
            <a:off x="1234440" y="39319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Accounts stay fully local (SQLite)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4"/>
          <p:cNvSpPr/>
          <p:nvPr/>
        </p:nvSpPr>
        <p:spPr>
          <a:xfrm>
            <a:off x="1234440" y="43617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i="1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→  no server, no signup friction, privacy by default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Oval 15"/>
          <p:cNvSpPr/>
          <p:nvPr/>
        </p:nvSpPr>
        <p:spPr>
          <a:xfrm>
            <a:off x="548640" y="4983480"/>
            <a:ext cx="502560" cy="502560"/>
          </a:xfrm>
          <a:prstGeom prst="ellipse">
            <a:avLst/>
          </a:prstGeom>
          <a:solidFill>
            <a:srgbClr val="F2C1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16"/>
          <p:cNvSpPr/>
          <p:nvPr/>
        </p:nvSpPr>
        <p:spPr>
          <a:xfrm>
            <a:off x="548640" y="49834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7"/>
          <p:cNvSpPr/>
          <p:nvPr/>
        </p:nvSpPr>
        <p:spPr>
          <a:xfrm>
            <a:off x="1234440" y="493776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Projections are a heuristic model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8"/>
          <p:cNvSpPr/>
          <p:nvPr/>
        </p:nvSpPr>
        <p:spPr>
          <a:xfrm>
            <a:off x="1234440" y="536760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350" b="0" i="1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→  explicitly labeled an estimate, not a medical claim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9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Sports Stats Search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20"/>
          <p:cNvSpPr/>
          <p:nvPr/>
        </p:nvSpPr>
        <p:spPr>
          <a:xfrm>
            <a:off x="10972800" y="6473880"/>
            <a:ext cx="66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1"/>
          <p:cNvSpPr/>
          <p:nvPr/>
        </p:nvSpPr>
        <p:spPr>
          <a:xfrm>
            <a:off x="548640" y="38412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1" u="none" strike="noStrike">
                <a:solidFill>
                  <a:srgbClr val="F2C14E"/>
                </a:solidFill>
                <a:effectLst/>
                <a:uFillTx/>
                <a:latin typeface="Calibri"/>
              </a:rPr>
              <a:t>LIVE DEMO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548640" y="6584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Try It Yourself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Oval 3"/>
          <p:cNvSpPr/>
          <p:nvPr/>
        </p:nvSpPr>
        <p:spPr>
          <a:xfrm>
            <a:off x="1463040" y="1874520"/>
            <a:ext cx="776880" cy="776880"/>
          </a:xfrm>
          <a:prstGeom prst="ellipse">
            <a:avLst/>
          </a:prstGeom>
          <a:solidFill>
            <a:srgbClr val="F2C1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4"/>
          <p:cNvSpPr/>
          <p:nvPr/>
        </p:nvSpPr>
        <p:spPr>
          <a:xfrm>
            <a:off x="1463040" y="187452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1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5"/>
          <p:cNvSpPr/>
          <p:nvPr/>
        </p:nvSpPr>
        <p:spPr>
          <a:xfrm>
            <a:off x="548640" y="2880360"/>
            <a:ext cx="2605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  <a:spcAft>
                <a:spcPts val="601"/>
              </a:spcAf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Double-click SportsStatsApp.exe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6"/>
          <p:cNvSpPr/>
          <p:nvPr/>
        </p:nvSpPr>
        <p:spPr>
          <a:xfrm>
            <a:off x="548640" y="3566160"/>
            <a:ext cx="2605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  <a:spcAft>
                <a:spcPts val="601"/>
              </a:spcAft>
            </a:pPr>
            <a:r>
              <a:rPr lang="en-US" sz="1150" b="0" i="1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no Python install needed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Oval 7"/>
          <p:cNvSpPr/>
          <p:nvPr/>
        </p:nvSpPr>
        <p:spPr>
          <a:xfrm>
            <a:off x="4251960" y="1874520"/>
            <a:ext cx="776880" cy="776880"/>
          </a:xfrm>
          <a:prstGeom prst="ellipse">
            <a:avLst/>
          </a:prstGeom>
          <a:solidFill>
            <a:srgbClr val="F2C1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8"/>
          <p:cNvSpPr/>
          <p:nvPr/>
        </p:nvSpPr>
        <p:spPr>
          <a:xfrm>
            <a:off x="4251960" y="187452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2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9"/>
          <p:cNvSpPr/>
          <p:nvPr/>
        </p:nvSpPr>
        <p:spPr>
          <a:xfrm>
            <a:off x="3337560" y="2880360"/>
            <a:ext cx="2605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  <a:spcAft>
                <a:spcPts val="601"/>
              </a:spcAf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Create an account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0"/>
          <p:cNvSpPr/>
          <p:nvPr/>
        </p:nvSpPr>
        <p:spPr>
          <a:xfrm>
            <a:off x="3337560" y="3566160"/>
            <a:ext cx="2605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  <a:spcAft>
                <a:spcPts val="601"/>
              </a:spcAft>
            </a:pPr>
            <a:r>
              <a:rPr lang="en-US" sz="1150" b="0" i="1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local, free, instant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Oval 11"/>
          <p:cNvSpPr/>
          <p:nvPr/>
        </p:nvSpPr>
        <p:spPr>
          <a:xfrm>
            <a:off x="7040880" y="1874520"/>
            <a:ext cx="776880" cy="776880"/>
          </a:xfrm>
          <a:prstGeom prst="ellipse">
            <a:avLst/>
          </a:prstGeom>
          <a:solidFill>
            <a:srgbClr val="F2C1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2"/>
          <p:cNvSpPr/>
          <p:nvPr/>
        </p:nvSpPr>
        <p:spPr>
          <a:xfrm>
            <a:off x="7040880" y="187452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3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13"/>
          <p:cNvSpPr/>
          <p:nvPr/>
        </p:nvSpPr>
        <p:spPr>
          <a:xfrm>
            <a:off x="6126480" y="2880360"/>
            <a:ext cx="2605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  <a:spcAft>
                <a:spcPts val="601"/>
              </a:spcAf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Log your first stat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4"/>
          <p:cNvSpPr/>
          <p:nvPr/>
        </p:nvSpPr>
        <p:spPr>
          <a:xfrm>
            <a:off x="6126480" y="3566160"/>
            <a:ext cx="2605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  <a:spcAft>
                <a:spcPts val="601"/>
              </a:spcAft>
            </a:pPr>
            <a:r>
              <a:rPr lang="en-US" sz="1150" b="0" i="1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any sport, any metric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Oval 15"/>
          <p:cNvSpPr/>
          <p:nvPr/>
        </p:nvSpPr>
        <p:spPr>
          <a:xfrm>
            <a:off x="9829800" y="1874520"/>
            <a:ext cx="776880" cy="776880"/>
          </a:xfrm>
          <a:prstGeom prst="ellipse">
            <a:avLst/>
          </a:prstGeom>
          <a:solidFill>
            <a:srgbClr val="F2C1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6"/>
          <p:cNvSpPr/>
          <p:nvPr/>
        </p:nvSpPr>
        <p:spPr>
          <a:xfrm>
            <a:off x="9829800" y="1874520"/>
            <a:ext cx="776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0B2545"/>
                </a:solidFill>
                <a:effectLst/>
                <a:uFillTx/>
                <a:latin typeface="Cambria"/>
              </a:rPr>
              <a:t>4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7"/>
          <p:cNvSpPr/>
          <p:nvPr/>
        </p:nvSpPr>
        <p:spPr>
          <a:xfrm>
            <a:off x="8915400" y="2880360"/>
            <a:ext cx="2605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  <a:spcAft>
                <a:spcPts val="601"/>
              </a:spcAf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Search a pro athlete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8"/>
          <p:cNvSpPr/>
          <p:nvPr/>
        </p:nvSpPr>
        <p:spPr>
          <a:xfrm>
            <a:off x="8915400" y="3566160"/>
            <a:ext cx="2605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10000"/>
              </a:lnSpc>
              <a:spcAft>
                <a:spcPts val="601"/>
              </a:spcAft>
            </a:pPr>
            <a:r>
              <a:rPr lang="en-US" sz="1150" b="0" i="1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and compare yourself to them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9"/>
          <p:cNvSpPr/>
          <p:nvPr/>
        </p:nvSpPr>
        <p:spPr>
          <a:xfrm>
            <a:off x="914400" y="5074920"/>
            <a:ext cx="103597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4000" b="1" u="none" strike="noStrike">
                <a:solidFill>
                  <a:srgbClr val="F2C14E"/>
                </a:solidFill>
                <a:effectLst/>
                <a:uFillTx/>
                <a:latin typeface="Cambria"/>
              </a:rPr>
              <a:t>Thank you! Questions?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20"/>
          <p:cNvSpPr/>
          <p:nvPr/>
        </p:nvSpPr>
        <p:spPr>
          <a:xfrm>
            <a:off x="548640" y="64738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Sports Stats Search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1"/>
          <p:cNvSpPr/>
          <p:nvPr/>
        </p:nvSpPr>
        <p:spPr>
          <a:xfrm>
            <a:off x="10972800" y="6473880"/>
            <a:ext cx="66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000" b="0" u="none" strike="noStrike">
                <a:solidFill>
                  <a:srgbClr val="B9C6DE"/>
                </a:solidFill>
                <a:effectLst/>
                <a:uFillTx/>
                <a:latin typeface="Calibri"/>
              </a:rPr>
              <a:t>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